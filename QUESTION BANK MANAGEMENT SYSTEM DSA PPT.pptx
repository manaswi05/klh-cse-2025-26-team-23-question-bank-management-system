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7"/>
  </p:notesMasterIdLst>
  <p:sldIdLst>
    <p:sldId id="260" r:id="rId5"/>
    <p:sldId id="257"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F774C-70F7-4ED4-813C-739E51CF8487}" type="datetimeFigureOut">
              <a:rPr lang="en-US" smtClean="0"/>
              <a:t>8/29/2026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4A772-5D94-4F12-8B86-44D4FB26368F}" type="slidenum">
              <a:rPr lang="en-US" smtClean="0"/>
              <a:t>‹#›</a:t>
            </a:fld>
            <a:endParaRPr lang="en-US" dirty="0"/>
          </a:p>
        </p:txBody>
      </p:sp>
    </p:spTree>
    <p:extLst>
      <p:ext uri="{BB962C8B-B14F-4D97-AF65-F5344CB8AC3E}">
        <p14:creationId xmlns:p14="http://schemas.microsoft.com/office/powerpoint/2010/main" val="26884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F2E34D-57B0-41D5-A7AF-DF10D1068115}" type="datetime1">
              <a:rPr lang="en-US" smtClean="0"/>
              <a:t>8/29/2026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56EAF9-2583-4989-8D87-13F548ED6E0C}"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0E3CFB-BB1B-4B2A-ADF6-B1A4609854C4}"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AEAA8-1A97-412E-935C-2E918F139579}" type="datetime1">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8B0DF1-CA1F-4E36-8C65-C52A9896A8FB}" type="datetime1">
              <a:rPr lang="en-US" smtClean="0"/>
              <a:t>8/29/2026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6173FD-197A-4AD6-8D60-38B6A76F0734}" type="datetime1">
              <a:rPr lang="en-US" smtClean="0"/>
              <a:t>8/29/2026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DC3949-07FA-4C7A-A990-D6D1043EED71}" type="datetime1">
              <a:rPr lang="en-US" smtClean="0"/>
              <a:t>8/29/2026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9E2DE8-6D13-4218-A974-D45AA7B6E4FF}" type="datetime1">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AB7D7-4BDA-4ABC-B31D-66201C69A314}" type="datetime1">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6E8327-77F4-4A2B-9238-101C8E3404E4}" type="datetime1">
              <a:rPr lang="en-US" smtClean="0"/>
              <a:t>8/29/2026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87327A-3B7B-4F18-AD00-4892CF91FF9D}"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98241-E647-4007-AB01-BB30869910EB}"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F5554-C941-4C3B-A197-75ED448862A0}"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6B44A0-C3F8-4023-9352-7CF7C034B2C8}"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C3DC5B-471F-47EA-B884-FE923235A560}"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8C408-3247-4796-93FF-B91D6887AEC0}"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A1D282-CC74-49F4-B876-75084EFB56F1}" type="datetime1">
              <a:rPr lang="en-US" smtClean="0"/>
              <a:t>8/29/2026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3F0A0B-291C-4112-A023-023C51AB2E85}" type="datetime1">
              <a:rPr lang="en-US" smtClean="0"/>
              <a:t>8/29/2026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197476" y="-834630"/>
            <a:ext cx="10028283" cy="3953773"/>
          </a:xfrm>
        </p:spPr>
        <p:txBody>
          <a:bodyPr>
            <a:normAutofit/>
          </a:bodyPr>
          <a:lstStyle/>
          <a:p>
            <a:pPr algn="l"/>
            <a:r>
              <a:rPr lang="en-US" sz="6200" dirty="0"/>
              <a:t>QUESTION BANK MANAGEMENT SYSTEM</a:t>
            </a:r>
          </a:p>
        </p:txBody>
      </p:sp>
      <p:sp>
        <p:nvSpPr>
          <p:cNvPr id="3" name="Subtitle 2">
            <a:extLst>
              <a:ext uri="{FF2B5EF4-FFF2-40B4-BE49-F238E27FC236}">
                <a16:creationId xmlns:a16="http://schemas.microsoft.com/office/drawing/2014/main" id="{1FBBDE4E-FFA3-44D5-BA0B-7575E2214B7C}"/>
              </a:ext>
            </a:extLst>
          </p:cNvPr>
          <p:cNvSpPr>
            <a:spLocks noGrp="1"/>
          </p:cNvSpPr>
          <p:nvPr>
            <p:ph type="subTitle" idx="1"/>
          </p:nvPr>
        </p:nvSpPr>
        <p:spPr>
          <a:xfrm>
            <a:off x="487977" y="3505945"/>
            <a:ext cx="7178070" cy="2183363"/>
          </a:xfrm>
        </p:spPr>
        <p:txBody>
          <a:bodyPr>
            <a:normAutofit fontScale="92500" lnSpcReduction="20000"/>
          </a:bodyPr>
          <a:lstStyle/>
          <a:p>
            <a:pPr algn="l"/>
            <a:r>
              <a:rPr lang="en-US" dirty="0"/>
              <a:t>TEAM MEMBERS: </a:t>
            </a:r>
          </a:p>
          <a:p>
            <a:pPr marL="457200" indent="-457200" algn="l">
              <a:buAutoNum type="arabicPeriod"/>
            </a:pPr>
            <a:r>
              <a:rPr lang="en-US" dirty="0"/>
              <a:t>2520030411 – MANASWI</a:t>
            </a:r>
          </a:p>
          <a:p>
            <a:pPr marL="457200" indent="-457200" algn="l">
              <a:buAutoNum type="arabicPeriod"/>
            </a:pPr>
            <a:r>
              <a:rPr lang="en-US" dirty="0"/>
              <a:t>2.2520030517 – NITHYA</a:t>
            </a:r>
          </a:p>
          <a:p>
            <a:pPr marL="457200" indent="-457200" algn="l">
              <a:buAutoNum type="arabicPeriod"/>
            </a:pPr>
            <a:r>
              <a:rPr lang="en-US" dirty="0"/>
              <a:t>3. 2520030361 – SRITHIKA</a:t>
            </a:r>
          </a:p>
          <a:p>
            <a:pPr algn="l"/>
            <a:r>
              <a:rPr lang="en-US" dirty="0"/>
              <a:t>GUIDE NAME : DR.VINAY KUMAR SRIPERAMBUDURI </a:t>
            </a:r>
          </a:p>
          <a:p>
            <a:pPr algn="l"/>
            <a:r>
              <a:rPr lang="en-US" dirty="0"/>
              <a:t>TEAM NUMBER – 23 </a:t>
            </a:r>
          </a:p>
        </p:txBody>
      </p:sp>
      <p:pic>
        <p:nvPicPr>
          <p:cNvPr id="5" name="Picture 4">
            <a:extLst>
              <a:ext uri="{FF2B5EF4-FFF2-40B4-BE49-F238E27FC236}">
                <a16:creationId xmlns:a16="http://schemas.microsoft.com/office/drawing/2014/main" id="{B9101E45-2513-AE3C-90EE-FCAFD78438B9}"/>
              </a:ext>
            </a:extLst>
          </p:cNvPr>
          <p:cNvPicPr>
            <a:picLocks noChangeAspect="1"/>
          </p:cNvPicPr>
          <p:nvPr/>
        </p:nvPicPr>
        <p:blipFill>
          <a:blip r:embed="rId2"/>
          <a:stretch>
            <a:fillRect/>
          </a:stretch>
        </p:blipFill>
        <p:spPr>
          <a:xfrm>
            <a:off x="10068977" y="158057"/>
            <a:ext cx="1909241" cy="984200"/>
          </a:xfrm>
          <a:prstGeom prst="rect">
            <a:avLst/>
          </a:prstGeom>
        </p:spPr>
      </p:pic>
    </p:spTree>
    <p:extLst>
      <p:ext uri="{BB962C8B-B14F-4D97-AF65-F5344CB8AC3E}">
        <p14:creationId xmlns:p14="http://schemas.microsoft.com/office/powerpoint/2010/main" val="38844669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C7492CCE-C435-464E-A19A-D4C606FDBE3D}"/>
              </a:ext>
            </a:extLst>
          </p:cNvPr>
          <p:cNvSpPr>
            <a:spLocks noGrp="1"/>
          </p:cNvSpPr>
          <p:nvPr>
            <p:ph type="title"/>
          </p:nvPr>
        </p:nvSpPr>
        <p:spPr>
          <a:xfrm>
            <a:off x="1018191" y="685800"/>
            <a:ext cx="5625677" cy="1154575"/>
          </a:xfrm>
        </p:spPr>
        <p:txBody>
          <a:bodyPr>
            <a:normAutofit fontScale="90000"/>
          </a:bodyPr>
          <a:lstStyle/>
          <a:p>
            <a:pPr algn="l"/>
            <a:r>
              <a:rPr lang="en-IN" b="1" dirty="0"/>
              <a:t>Problem Statement</a:t>
            </a:r>
            <a:br>
              <a:rPr lang="en-IN" b="1" dirty="0"/>
            </a:br>
            <a:endParaRPr lang="en-US" dirty="0"/>
          </a:p>
        </p:txBody>
      </p:sp>
      <p:sp>
        <p:nvSpPr>
          <p:cNvPr id="3" name="Content Placeholder 2">
            <a:extLst>
              <a:ext uri="{FF2B5EF4-FFF2-40B4-BE49-F238E27FC236}">
                <a16:creationId xmlns:a16="http://schemas.microsoft.com/office/drawing/2014/main" id="{60DFF4FA-F598-4962-B6AB-31A8BE724E52}"/>
              </a:ext>
            </a:extLst>
          </p:cNvPr>
          <p:cNvSpPr>
            <a:spLocks noGrp="1"/>
          </p:cNvSpPr>
          <p:nvPr>
            <p:ph idx="1"/>
          </p:nvPr>
        </p:nvSpPr>
        <p:spPr>
          <a:xfrm>
            <a:off x="474562" y="1307940"/>
            <a:ext cx="8913909" cy="3854370"/>
          </a:xfrm>
        </p:spPr>
        <p:txBody>
          <a:bodyPr anchor="t">
            <a:normAutofit fontScale="92500" lnSpcReduction="10000"/>
          </a:bodyPr>
          <a:lstStyle/>
          <a:p>
            <a:pPr marL="0" indent="0">
              <a:buNone/>
            </a:pPr>
            <a:endParaRPr lang="en-US" sz="1800" b="1" dirty="0"/>
          </a:p>
          <a:p>
            <a:pPr marL="0" indent="0">
              <a:buNone/>
            </a:pPr>
            <a:r>
              <a:rPr lang="en-IN" sz="2800" dirty="0"/>
              <a:t>Educational institutions maintain large collections of examination questions across different subjects, topics, difficulty levels, and academic years. Searching for suitable questions manually is time-consuming, inefficient, and may lead to repeated or irrelevant question selection. Therefore, there is a need for an efficient examination question search system that can quickly retrieve relevant questions based on criteria such as subject, topic, marks, question type, difficulty level, and keywords.</a:t>
            </a:r>
          </a:p>
          <a:p>
            <a:endParaRPr lang="en-US" sz="1800" dirty="0"/>
          </a:p>
        </p:txBody>
      </p:sp>
    </p:spTree>
    <p:extLst>
      <p:ext uri="{BB962C8B-B14F-4D97-AF65-F5344CB8AC3E}">
        <p14:creationId xmlns:p14="http://schemas.microsoft.com/office/powerpoint/2010/main" val="99068455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E014629-AE1E-4C1E-F4C2-12AE07C53D7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6E50BA1-A2A8-2185-8FD2-E2CFC49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2851E3F1-08F0-DB48-8883-723E458DAF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BC4AF796-77A6-EB32-6015-CEC869183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EEBE8BAE-B962-8AC4-45C5-6F3A8F036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D8391495-6BC7-9365-497A-3CDB87996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8EFF180C-878B-45AE-F683-CEAB570934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10FB5970-C326-DC05-3B67-DBD98C126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F0F0ED45-8EF5-610B-1F2B-8FF217FFC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44237401-2805-0DB3-1635-1B080DCF4B02}"/>
              </a:ext>
            </a:extLst>
          </p:cNvPr>
          <p:cNvSpPr>
            <a:spLocks noGrp="1"/>
          </p:cNvSpPr>
          <p:nvPr>
            <p:ph type="title"/>
          </p:nvPr>
        </p:nvSpPr>
        <p:spPr>
          <a:xfrm>
            <a:off x="650877" y="431157"/>
            <a:ext cx="5445123" cy="1386068"/>
          </a:xfrm>
        </p:spPr>
        <p:txBody>
          <a:bodyPr>
            <a:normAutofit/>
          </a:bodyPr>
          <a:lstStyle/>
          <a:p>
            <a:pPr algn="l"/>
            <a:r>
              <a:rPr lang="en-IN" dirty="0"/>
              <a:t>Key Challenges</a:t>
            </a:r>
            <a:br>
              <a:rPr lang="en-IN" b="1" dirty="0"/>
            </a:br>
            <a:endParaRPr lang="en-US" dirty="0"/>
          </a:p>
        </p:txBody>
      </p:sp>
      <p:sp>
        <p:nvSpPr>
          <p:cNvPr id="3" name="Content Placeholder 2">
            <a:extLst>
              <a:ext uri="{FF2B5EF4-FFF2-40B4-BE49-F238E27FC236}">
                <a16:creationId xmlns:a16="http://schemas.microsoft.com/office/drawing/2014/main" id="{CA11049E-427D-D0E5-F67A-91E0D50B2347}"/>
              </a:ext>
            </a:extLst>
          </p:cNvPr>
          <p:cNvSpPr>
            <a:spLocks noGrp="1"/>
          </p:cNvSpPr>
          <p:nvPr>
            <p:ph idx="1"/>
          </p:nvPr>
        </p:nvSpPr>
        <p:spPr>
          <a:xfrm>
            <a:off x="474562" y="1307940"/>
            <a:ext cx="8913909" cy="3854370"/>
          </a:xfrm>
        </p:spPr>
        <p:txBody>
          <a:bodyPr anchor="t">
            <a:normAutofit/>
          </a:bodyPr>
          <a:lstStyle/>
          <a:p>
            <a:pPr marL="0" indent="0">
              <a:buNone/>
            </a:pPr>
            <a:endParaRPr lang="en-US" sz="2000" b="1" dirty="0"/>
          </a:p>
          <a:p>
            <a:pPr lvl="0"/>
            <a:r>
              <a:rPr lang="en-IN" sz="2000" dirty="0"/>
              <a:t>Managing and organizing a large collection of examination questions</a:t>
            </a:r>
          </a:p>
          <a:p>
            <a:pPr lvl="0"/>
            <a:r>
              <a:rPr lang="en-IN" sz="2000" dirty="0"/>
              <a:t>Searching and retrieving relevant questions quickly</a:t>
            </a:r>
          </a:p>
          <a:p>
            <a:pPr lvl="0"/>
            <a:r>
              <a:rPr lang="en-IN" sz="2000" dirty="0"/>
              <a:t>Classifying questions based on subject, topic, marks, and difficulty level</a:t>
            </a:r>
          </a:p>
          <a:p>
            <a:pPr lvl="0"/>
            <a:r>
              <a:rPr lang="en-IN" sz="2000" dirty="0"/>
              <a:t>Avoiding duplicate or repeated questions</a:t>
            </a:r>
          </a:p>
          <a:p>
            <a:pPr lvl="0"/>
            <a:r>
              <a:rPr lang="en-IN" sz="2000" dirty="0"/>
              <a:t>Maintaining accurate and updated question data</a:t>
            </a:r>
          </a:p>
          <a:p>
            <a:pPr lvl="0"/>
            <a:r>
              <a:rPr lang="en-IN" sz="2000" dirty="0"/>
              <a:t>Providing fast and efficient search results</a:t>
            </a:r>
          </a:p>
          <a:p>
            <a:pPr lvl="0"/>
            <a:r>
              <a:rPr lang="en-IN" sz="2000" dirty="0"/>
              <a:t>Ensuring the system is simple and easy for teachers to use</a:t>
            </a:r>
          </a:p>
          <a:p>
            <a:endParaRPr lang="en-US" sz="1800" dirty="0"/>
          </a:p>
        </p:txBody>
      </p:sp>
    </p:spTree>
    <p:extLst>
      <p:ext uri="{BB962C8B-B14F-4D97-AF65-F5344CB8AC3E}">
        <p14:creationId xmlns:p14="http://schemas.microsoft.com/office/powerpoint/2010/main" val="173048127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D626D5F-041C-8A08-7F04-BB15747B123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B510E3-2B44-A04F-2194-09095A597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D9800A95-1657-D934-6924-6352864D8B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220E977F-4AC5-B611-4A46-E850DF7766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61A027A7-BA1B-B4C1-7CB8-7CC622C7B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E553C4B3-696B-503A-4FA1-51069CE17D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DA9D1236-AF8D-E344-8F5A-F75C0BF253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433F1F22-5889-3A6D-371B-E85C8CBC3C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6BCD6769-F841-814E-5C72-195A4BB9B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8E0900A5-A305-C4A0-BC66-D54828314A05}"/>
              </a:ext>
            </a:extLst>
          </p:cNvPr>
          <p:cNvSpPr>
            <a:spLocks noGrp="1"/>
          </p:cNvSpPr>
          <p:nvPr>
            <p:ph type="title"/>
          </p:nvPr>
        </p:nvSpPr>
        <p:spPr>
          <a:xfrm>
            <a:off x="650877" y="431157"/>
            <a:ext cx="5445123" cy="1386068"/>
          </a:xfrm>
        </p:spPr>
        <p:txBody>
          <a:bodyPr>
            <a:normAutofit/>
          </a:bodyPr>
          <a:lstStyle/>
          <a:p>
            <a:pPr algn="l"/>
            <a:r>
              <a:rPr lang="en-IN" b="1" dirty="0"/>
              <a:t>Objectives</a:t>
            </a:r>
            <a:br>
              <a:rPr lang="en-IN" b="1" dirty="0"/>
            </a:br>
            <a:endParaRPr lang="en-US" dirty="0"/>
          </a:p>
        </p:txBody>
      </p:sp>
      <p:sp>
        <p:nvSpPr>
          <p:cNvPr id="3" name="Content Placeholder 2">
            <a:extLst>
              <a:ext uri="{FF2B5EF4-FFF2-40B4-BE49-F238E27FC236}">
                <a16:creationId xmlns:a16="http://schemas.microsoft.com/office/drawing/2014/main" id="{BB9A3B80-2FAA-AFA5-27E9-7DAE7F751B1C}"/>
              </a:ext>
            </a:extLst>
          </p:cNvPr>
          <p:cNvSpPr>
            <a:spLocks noGrp="1"/>
          </p:cNvSpPr>
          <p:nvPr>
            <p:ph idx="1"/>
          </p:nvPr>
        </p:nvSpPr>
        <p:spPr>
          <a:xfrm>
            <a:off x="474562" y="1307940"/>
            <a:ext cx="8484243" cy="4791918"/>
          </a:xfrm>
        </p:spPr>
        <p:txBody>
          <a:bodyPr anchor="t">
            <a:normAutofit lnSpcReduction="10000"/>
          </a:bodyPr>
          <a:lstStyle/>
          <a:p>
            <a:pPr marL="0" indent="0">
              <a:buNone/>
            </a:pPr>
            <a:r>
              <a:rPr lang="en-US" sz="2800" dirty="0"/>
              <a:t>The primary objective of the project is to develop a centralized digital platform that allows educators to efficiently manage examination questions. Specific objectives include: </a:t>
            </a:r>
          </a:p>
          <a:p>
            <a:pPr marL="0" indent="0">
              <a:buNone/>
            </a:pPr>
            <a:r>
              <a:rPr lang="en-US" sz="2800" dirty="0"/>
              <a:t>Store all questions in a centralized </a:t>
            </a:r>
            <a:r>
              <a:rPr lang="en-US" sz="2800" dirty="0" err="1"/>
              <a:t>database.Provide</a:t>
            </a:r>
            <a:r>
              <a:rPr lang="en-US" sz="2800" dirty="0"/>
              <a:t> fast keyword-based </a:t>
            </a:r>
            <a:r>
              <a:rPr lang="en-US" sz="2800" dirty="0" err="1"/>
              <a:t>searching.Organize</a:t>
            </a:r>
            <a:r>
              <a:rPr lang="en-US" sz="2800" dirty="0"/>
              <a:t> questions using multiple categories. Reduce duplication of </a:t>
            </a:r>
            <a:r>
              <a:rPr lang="en-US" sz="2800" dirty="0" err="1"/>
              <a:t>questions.Generate</a:t>
            </a:r>
            <a:r>
              <a:rPr lang="en-US" sz="2800" dirty="0"/>
              <a:t> balanced question papers. Improve faculty productivity. Maintain secure access through authentication. Simplify updating and maintaining question banks.</a:t>
            </a:r>
          </a:p>
        </p:txBody>
      </p:sp>
    </p:spTree>
    <p:extLst>
      <p:ext uri="{BB962C8B-B14F-4D97-AF65-F5344CB8AC3E}">
        <p14:creationId xmlns:p14="http://schemas.microsoft.com/office/powerpoint/2010/main" val="122529418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11F9F69-DA8E-0C99-1F5C-47DDBB7CECA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EBC32E5-F070-3C83-6E67-B9879CBF3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0623652A-A78A-F982-157D-7222E86888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20A96884-B332-2704-3D9B-C584BCE739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7E7C74C1-F6EC-061A-9025-42661A797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92A0521B-86FC-820A-B3CE-0174E32EE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71CA2F41-A860-4B83-2DE3-57C828E95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25845A1C-5131-5E96-424B-3656B53F6B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70520774-2958-0606-16CB-5D6E45C9BC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72C4226E-90E5-6565-A2D5-4003E922194F}"/>
              </a:ext>
            </a:extLst>
          </p:cNvPr>
          <p:cNvSpPr>
            <a:spLocks noGrp="1"/>
          </p:cNvSpPr>
          <p:nvPr>
            <p:ph type="title"/>
          </p:nvPr>
        </p:nvSpPr>
        <p:spPr>
          <a:xfrm>
            <a:off x="650877" y="431157"/>
            <a:ext cx="5445123" cy="1386068"/>
          </a:xfrm>
        </p:spPr>
        <p:txBody>
          <a:bodyPr>
            <a:normAutofit/>
          </a:bodyPr>
          <a:lstStyle/>
          <a:p>
            <a:pPr algn="l"/>
            <a:r>
              <a:rPr lang="en-IN" b="1" dirty="0"/>
              <a:t>Proposed Solution</a:t>
            </a:r>
            <a:br>
              <a:rPr lang="en-IN" b="1" dirty="0"/>
            </a:br>
            <a:endParaRPr lang="en-US" dirty="0"/>
          </a:p>
        </p:txBody>
      </p:sp>
      <p:sp>
        <p:nvSpPr>
          <p:cNvPr id="3" name="Content Placeholder 2">
            <a:extLst>
              <a:ext uri="{FF2B5EF4-FFF2-40B4-BE49-F238E27FC236}">
                <a16:creationId xmlns:a16="http://schemas.microsoft.com/office/drawing/2014/main" id="{439621FB-4AA2-0226-46CD-FB906E44A688}"/>
              </a:ext>
            </a:extLst>
          </p:cNvPr>
          <p:cNvSpPr>
            <a:spLocks noGrp="1"/>
          </p:cNvSpPr>
          <p:nvPr>
            <p:ph idx="1"/>
          </p:nvPr>
        </p:nvSpPr>
        <p:spPr>
          <a:xfrm>
            <a:off x="474562" y="1307940"/>
            <a:ext cx="8588415" cy="4780344"/>
          </a:xfrm>
        </p:spPr>
        <p:txBody>
          <a:bodyPr anchor="t">
            <a:normAutofit/>
          </a:bodyPr>
          <a:lstStyle/>
          <a:p>
            <a:pPr marL="0" indent="0">
              <a:buNone/>
            </a:pPr>
            <a:r>
              <a:rPr lang="en-US" sz="2800" dirty="0"/>
              <a:t>The proposed system provides a centralized platform where authorized users can:</a:t>
            </a:r>
          </a:p>
          <a:p>
            <a:pPr marL="0" indent="0">
              <a:buNone/>
            </a:pPr>
            <a:r>
              <a:rPr lang="en-US" sz="2800" dirty="0"/>
              <a:t>Add new questions Edit existing questions Delete outdated questions Search questions using multiple filters Categorize questions Export selected questions Generate question papers Maintain version history The application stores all information inside a relational database and provides a user-friendly interface for faculty members.</a:t>
            </a:r>
          </a:p>
        </p:txBody>
      </p:sp>
    </p:spTree>
    <p:extLst>
      <p:ext uri="{BB962C8B-B14F-4D97-AF65-F5344CB8AC3E}">
        <p14:creationId xmlns:p14="http://schemas.microsoft.com/office/powerpoint/2010/main" val="414655376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7A2B3C-E861-4DE8-F492-6CDE21BEEF96}"/>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90340FA-1A82-536F-97F1-5186018E1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786780B6-69A8-C201-B526-49A679352F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61621D13-675F-6D9C-A2F3-B517EB92D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575993A4-C76F-A67E-15A7-FA9EFDD87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099E7F21-44C1-AE0F-FE4B-E3B0D7021D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5A834AA4-7D92-0747-035F-6EC70595C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7FAA0FC3-AFF2-8B32-5471-BBB18F0091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4F17EAF5-CEB2-07C7-550B-833D42C93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171F6C2B-72BC-3F5D-F0A7-F8BB56500A31}"/>
              </a:ext>
            </a:extLst>
          </p:cNvPr>
          <p:cNvSpPr>
            <a:spLocks noGrp="1"/>
          </p:cNvSpPr>
          <p:nvPr>
            <p:ph type="title"/>
          </p:nvPr>
        </p:nvSpPr>
        <p:spPr>
          <a:xfrm>
            <a:off x="650877" y="431157"/>
            <a:ext cx="5445123" cy="1386068"/>
          </a:xfrm>
        </p:spPr>
        <p:txBody>
          <a:bodyPr>
            <a:normAutofit/>
          </a:bodyPr>
          <a:lstStyle/>
          <a:p>
            <a:pPr algn="l"/>
            <a:r>
              <a:rPr lang="en-IN" b="1" dirty="0"/>
              <a:t>Proposed Solution</a:t>
            </a:r>
            <a:br>
              <a:rPr lang="en-IN" b="1" dirty="0"/>
            </a:br>
            <a:endParaRPr lang="en-US" dirty="0"/>
          </a:p>
        </p:txBody>
      </p:sp>
      <p:sp>
        <p:nvSpPr>
          <p:cNvPr id="3" name="Content Placeholder 2">
            <a:extLst>
              <a:ext uri="{FF2B5EF4-FFF2-40B4-BE49-F238E27FC236}">
                <a16:creationId xmlns:a16="http://schemas.microsoft.com/office/drawing/2014/main" id="{AF862870-37FA-B848-7A74-150D70C61924}"/>
              </a:ext>
            </a:extLst>
          </p:cNvPr>
          <p:cNvSpPr>
            <a:spLocks noGrp="1"/>
          </p:cNvSpPr>
          <p:nvPr>
            <p:ph idx="1"/>
          </p:nvPr>
        </p:nvSpPr>
        <p:spPr>
          <a:xfrm>
            <a:off x="474562" y="1307940"/>
            <a:ext cx="8588415" cy="4780344"/>
          </a:xfrm>
        </p:spPr>
        <p:txBody>
          <a:bodyPr anchor="t">
            <a:normAutofit/>
          </a:bodyPr>
          <a:lstStyle/>
          <a:p>
            <a:pPr marL="0" indent="0">
              <a:buNone/>
            </a:pPr>
            <a:r>
              <a:rPr lang="en-US" sz="2800" dirty="0"/>
              <a:t>The proposed system provides a centralized platform where authorized users can:</a:t>
            </a:r>
          </a:p>
          <a:p>
            <a:pPr marL="0" indent="0">
              <a:buNone/>
            </a:pPr>
            <a:r>
              <a:rPr lang="en-US" sz="2800" dirty="0"/>
              <a:t>Add new </a:t>
            </a:r>
            <a:r>
              <a:rPr lang="en-US" sz="2800" dirty="0" err="1"/>
              <a:t>questionsEdit</a:t>
            </a:r>
            <a:r>
              <a:rPr lang="en-US" sz="2800" dirty="0"/>
              <a:t> existing questions Delete outdated questions Search questions using multiple filters Categorize questions Export </a:t>
            </a:r>
            <a:r>
              <a:rPr lang="en-US" sz="2800"/>
              <a:t>selected questions Generate </a:t>
            </a:r>
            <a:r>
              <a:rPr lang="en-US" sz="2800" dirty="0"/>
              <a:t>question papers Maintain version history The application stores all information inside a relational database and provides a user-friendly interface for faculty members.</a:t>
            </a:r>
          </a:p>
        </p:txBody>
      </p:sp>
    </p:spTree>
    <p:extLst>
      <p:ext uri="{BB962C8B-B14F-4D97-AF65-F5344CB8AC3E}">
        <p14:creationId xmlns:p14="http://schemas.microsoft.com/office/powerpoint/2010/main" val="3494695491"/>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C61A453-41F0-B4A7-64A4-68BE9B98C5F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5D84235-D579-9C79-EA5D-A7834C7BD9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91F5E62D-586B-EC55-E82F-4C815C43CA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0581A60C-7EE6-B7D2-BE5E-A68D059DA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16FE44D7-4B00-D54A-45DC-5657FA592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035C242A-FD0C-1E73-B8A6-74067CCCA9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BF817AAC-F69D-7593-1A1F-484A894F6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CFA75368-4678-F939-4F24-F40CB438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C185AFE8-1839-4DFD-593F-700FC81E17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6252E36C-1C00-779A-F0CE-AC415BC02EB1}"/>
              </a:ext>
            </a:extLst>
          </p:cNvPr>
          <p:cNvSpPr>
            <a:spLocks noGrp="1"/>
          </p:cNvSpPr>
          <p:nvPr>
            <p:ph type="title"/>
          </p:nvPr>
        </p:nvSpPr>
        <p:spPr>
          <a:xfrm>
            <a:off x="650877" y="431157"/>
            <a:ext cx="5445123" cy="1386068"/>
          </a:xfrm>
        </p:spPr>
        <p:txBody>
          <a:bodyPr>
            <a:normAutofit fontScale="90000"/>
          </a:bodyPr>
          <a:lstStyle/>
          <a:p>
            <a:pPr algn="l"/>
            <a:r>
              <a:rPr lang="en-IN" b="1" dirty="0"/>
              <a:t>Core Features</a:t>
            </a:r>
            <a:br>
              <a:rPr lang="en-IN" b="1" dirty="0"/>
            </a:br>
            <a:br>
              <a:rPr lang="en-IN" b="1" dirty="0"/>
            </a:br>
            <a:endParaRPr lang="en-US" dirty="0"/>
          </a:p>
        </p:txBody>
      </p:sp>
      <p:sp>
        <p:nvSpPr>
          <p:cNvPr id="3" name="Content Placeholder 2">
            <a:extLst>
              <a:ext uri="{FF2B5EF4-FFF2-40B4-BE49-F238E27FC236}">
                <a16:creationId xmlns:a16="http://schemas.microsoft.com/office/drawing/2014/main" id="{69D9DF8E-13DD-B1C6-6104-B7C4F18B7F09}"/>
              </a:ext>
            </a:extLst>
          </p:cNvPr>
          <p:cNvSpPr>
            <a:spLocks noGrp="1"/>
          </p:cNvSpPr>
          <p:nvPr>
            <p:ph idx="1"/>
          </p:nvPr>
        </p:nvSpPr>
        <p:spPr>
          <a:xfrm>
            <a:off x="650877" y="1124191"/>
            <a:ext cx="8634714" cy="5266481"/>
          </a:xfrm>
        </p:spPr>
        <p:txBody>
          <a:bodyPr anchor="t">
            <a:normAutofit/>
          </a:bodyPr>
          <a:lstStyle/>
          <a:p>
            <a:pPr lvl="0"/>
            <a:r>
              <a:rPr lang="en-IN" sz="2800" dirty="0"/>
              <a:t>Question bank management</a:t>
            </a:r>
          </a:p>
          <a:p>
            <a:pPr lvl="0"/>
            <a:r>
              <a:rPr lang="en-IN" sz="2800" dirty="0"/>
              <a:t>Keyword-based search</a:t>
            </a:r>
          </a:p>
          <a:p>
            <a:pPr lvl="0"/>
            <a:r>
              <a:rPr lang="en-IN" sz="2800" dirty="0"/>
              <a:t>Subject and topic filtering</a:t>
            </a:r>
          </a:p>
          <a:p>
            <a:pPr lvl="0"/>
            <a:r>
              <a:rPr lang="en-IN" sz="2800" dirty="0"/>
              <a:t>Difficulty and marks filtering</a:t>
            </a:r>
          </a:p>
          <a:p>
            <a:pPr lvl="0"/>
            <a:r>
              <a:rPr lang="en-IN" sz="2800" dirty="0"/>
              <a:t>Quick question retrieval</a:t>
            </a:r>
          </a:p>
          <a:p>
            <a:pPr lvl="0"/>
            <a:r>
              <a:rPr lang="en-IN" sz="2800" dirty="0"/>
              <a:t>Duplicate question detection</a:t>
            </a:r>
          </a:p>
          <a:p>
            <a:pPr marL="0" indent="0">
              <a:buNone/>
            </a:pPr>
            <a:endParaRPr lang="en-US" sz="2800" dirty="0"/>
          </a:p>
        </p:txBody>
      </p:sp>
    </p:spTree>
    <p:extLst>
      <p:ext uri="{BB962C8B-B14F-4D97-AF65-F5344CB8AC3E}">
        <p14:creationId xmlns:p14="http://schemas.microsoft.com/office/powerpoint/2010/main" val="217834258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DAFC3E0-1DAA-3DB6-6981-936A4B8C3A7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8BC0706-8BB7-C247-441B-5D75ED373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A13F6C35-FDA9-4603-A2D0-ED9077E45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700749A3-2BB1-3508-8D08-52C95E654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D84855BA-48E6-4FB2-95DA-B10A07E36C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B4201D9E-0657-9C7A-9D05-067DF3B37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10ACAC3A-4845-B651-2A97-241341FBD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7AEF686A-6D40-3890-3EEC-E4BDD6366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5962AEA8-F503-90ED-0BFA-9D628CE33B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1AC81CCC-B1BD-BF88-70E7-65CCD9C12054}"/>
              </a:ext>
            </a:extLst>
          </p:cNvPr>
          <p:cNvSpPr>
            <a:spLocks noGrp="1"/>
          </p:cNvSpPr>
          <p:nvPr>
            <p:ph type="title"/>
          </p:nvPr>
        </p:nvSpPr>
        <p:spPr>
          <a:xfrm>
            <a:off x="650877" y="431157"/>
            <a:ext cx="5445123" cy="1386068"/>
          </a:xfrm>
        </p:spPr>
        <p:txBody>
          <a:bodyPr>
            <a:normAutofit fontScale="90000"/>
          </a:bodyPr>
          <a:lstStyle/>
          <a:p>
            <a:pPr algn="l"/>
            <a:r>
              <a:rPr lang="en-IN" dirty="0"/>
              <a:t>Functional Requirements:</a:t>
            </a:r>
            <a:br>
              <a:rPr lang="en-IN" b="1" dirty="0"/>
            </a:br>
            <a:br>
              <a:rPr lang="en-IN" b="1" dirty="0"/>
            </a:br>
            <a:endParaRPr lang="en-US" dirty="0"/>
          </a:p>
        </p:txBody>
      </p:sp>
      <p:sp>
        <p:nvSpPr>
          <p:cNvPr id="3" name="Content Placeholder 2">
            <a:extLst>
              <a:ext uri="{FF2B5EF4-FFF2-40B4-BE49-F238E27FC236}">
                <a16:creationId xmlns:a16="http://schemas.microsoft.com/office/drawing/2014/main" id="{17CF728C-CC04-12CE-A19D-1177A6E10F7A}"/>
              </a:ext>
            </a:extLst>
          </p:cNvPr>
          <p:cNvSpPr>
            <a:spLocks noGrp="1"/>
          </p:cNvSpPr>
          <p:nvPr>
            <p:ph idx="1"/>
          </p:nvPr>
        </p:nvSpPr>
        <p:spPr>
          <a:xfrm>
            <a:off x="650877" y="1124191"/>
            <a:ext cx="8634714" cy="5266481"/>
          </a:xfrm>
        </p:spPr>
        <p:txBody>
          <a:bodyPr anchor="t">
            <a:normAutofit/>
          </a:bodyPr>
          <a:lstStyle/>
          <a:p>
            <a:pPr lvl="0"/>
            <a:r>
              <a:rPr lang="en-IN" sz="2800" dirty="0"/>
              <a:t>Add, update, and delete questions</a:t>
            </a:r>
          </a:p>
          <a:p>
            <a:pPr lvl="0"/>
            <a:r>
              <a:rPr lang="en-IN" sz="2800" dirty="0"/>
              <a:t>Search questions using keywords</a:t>
            </a:r>
          </a:p>
          <a:p>
            <a:pPr lvl="0"/>
            <a:r>
              <a:rPr lang="en-IN" sz="2800" dirty="0"/>
              <a:t>Filter questions by different criteria</a:t>
            </a:r>
          </a:p>
          <a:p>
            <a:pPr lvl="0"/>
            <a:r>
              <a:rPr lang="en-IN" sz="2800" dirty="0"/>
              <a:t>Display relevant search results</a:t>
            </a:r>
          </a:p>
          <a:p>
            <a:pPr lvl="0"/>
            <a:r>
              <a:rPr lang="en-IN" sz="2800" dirty="0"/>
              <a:t>View complete question details</a:t>
            </a:r>
          </a:p>
          <a:p>
            <a:pPr lvl="0"/>
            <a:r>
              <a:rPr lang="en-IN" sz="2800" dirty="0"/>
              <a:t>Select questions for exam preparation</a:t>
            </a:r>
          </a:p>
          <a:p>
            <a:pPr marL="0" indent="0">
              <a:buNone/>
            </a:pPr>
            <a:endParaRPr lang="en-US" sz="2800" dirty="0"/>
          </a:p>
        </p:txBody>
      </p:sp>
    </p:spTree>
    <p:extLst>
      <p:ext uri="{BB962C8B-B14F-4D97-AF65-F5344CB8AC3E}">
        <p14:creationId xmlns:p14="http://schemas.microsoft.com/office/powerpoint/2010/main" val="166584393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1777D83-87AC-CDD4-3E0D-37EA931FBEA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4DB0C9F-E3AB-F463-8860-8C3CDB2CC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EAF622DD-4682-3B1C-FC42-70E49281AF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27562F35-03A7-B196-B099-00FFBED13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29B412FE-8788-1AC4-0642-DBAA4DEC0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3B276FC4-B5E6-1A1F-B44A-089802717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00EAA5D7-BAA8-33D2-C00F-D6E786DA3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9CC92719-A37D-8480-0A62-423085163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D3871C1F-671B-D529-A0F8-CD083E300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39019214-6A73-254E-7859-527938BA791D}"/>
              </a:ext>
            </a:extLst>
          </p:cNvPr>
          <p:cNvSpPr>
            <a:spLocks noGrp="1"/>
          </p:cNvSpPr>
          <p:nvPr>
            <p:ph type="title"/>
          </p:nvPr>
        </p:nvSpPr>
        <p:spPr>
          <a:xfrm>
            <a:off x="650877" y="431157"/>
            <a:ext cx="5445123" cy="1386068"/>
          </a:xfrm>
        </p:spPr>
        <p:txBody>
          <a:bodyPr>
            <a:normAutofit fontScale="90000"/>
          </a:bodyPr>
          <a:lstStyle/>
          <a:p>
            <a:pPr algn="l"/>
            <a:r>
              <a:rPr lang="en-IN" dirty="0"/>
              <a:t>Functional Requirements:</a:t>
            </a:r>
            <a:br>
              <a:rPr lang="en-IN" b="1" dirty="0"/>
            </a:br>
            <a:br>
              <a:rPr lang="en-IN" b="1" dirty="0"/>
            </a:br>
            <a:endParaRPr lang="en-US" dirty="0"/>
          </a:p>
        </p:txBody>
      </p:sp>
      <p:sp>
        <p:nvSpPr>
          <p:cNvPr id="3" name="Content Placeholder 2">
            <a:extLst>
              <a:ext uri="{FF2B5EF4-FFF2-40B4-BE49-F238E27FC236}">
                <a16:creationId xmlns:a16="http://schemas.microsoft.com/office/drawing/2014/main" id="{B43C5D1F-D9E8-FC5E-FF99-186D88AAB120}"/>
              </a:ext>
            </a:extLst>
          </p:cNvPr>
          <p:cNvSpPr>
            <a:spLocks noGrp="1"/>
          </p:cNvSpPr>
          <p:nvPr>
            <p:ph idx="1"/>
          </p:nvPr>
        </p:nvSpPr>
        <p:spPr>
          <a:xfrm>
            <a:off x="650877" y="1124191"/>
            <a:ext cx="8634714" cy="5266481"/>
          </a:xfrm>
        </p:spPr>
        <p:txBody>
          <a:bodyPr anchor="t">
            <a:normAutofit/>
          </a:bodyPr>
          <a:lstStyle/>
          <a:p>
            <a:pPr lvl="0"/>
            <a:r>
              <a:rPr lang="en-IN" sz="2800" dirty="0"/>
              <a:t>Add, update, and delete questions</a:t>
            </a:r>
          </a:p>
          <a:p>
            <a:pPr lvl="0"/>
            <a:r>
              <a:rPr lang="en-IN" sz="2800" dirty="0"/>
              <a:t>Search questions using keywords</a:t>
            </a:r>
          </a:p>
          <a:p>
            <a:pPr lvl="0"/>
            <a:r>
              <a:rPr lang="en-IN" sz="2800" dirty="0"/>
              <a:t>Filter questions by different criteria</a:t>
            </a:r>
          </a:p>
          <a:p>
            <a:pPr lvl="0"/>
            <a:r>
              <a:rPr lang="en-IN" sz="2800" dirty="0"/>
              <a:t>Display relevant search results</a:t>
            </a:r>
          </a:p>
          <a:p>
            <a:pPr lvl="0"/>
            <a:r>
              <a:rPr lang="en-IN" sz="2800" dirty="0"/>
              <a:t>View complete question details</a:t>
            </a:r>
          </a:p>
          <a:p>
            <a:pPr lvl="0"/>
            <a:r>
              <a:rPr lang="en-IN" sz="2800"/>
              <a:t>Select questions for exam preparation</a:t>
            </a:r>
          </a:p>
          <a:p>
            <a:pPr marL="0" indent="0">
              <a:buNone/>
            </a:pPr>
            <a:endParaRPr lang="en-US" sz="2800" dirty="0"/>
          </a:p>
        </p:txBody>
      </p:sp>
    </p:spTree>
    <p:extLst>
      <p:ext uri="{BB962C8B-B14F-4D97-AF65-F5344CB8AC3E}">
        <p14:creationId xmlns:p14="http://schemas.microsoft.com/office/powerpoint/2010/main" val="128679922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7C1A471-AB24-7C67-8098-5A61ED685D0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42D5F19-71E6-8910-2804-117D2ADD6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ADC3A70-6118-1E02-E9A7-27606372D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2CFC9838-031D-45C7-2ABB-5D27F3883E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3F33588A-2502-C223-33E5-B83922C69B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7A74D551-8974-0C69-EE88-F73BB573F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D9C5A89D-FB40-54F3-78F5-A7ABE77FC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A6D482AD-6DE8-3B29-863E-3B4474BA13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9EB7C79A-9459-BE20-2991-17BDF3C570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29BC3C3B-94DB-4905-9FE1-D09DB1C0F163}"/>
              </a:ext>
            </a:extLst>
          </p:cNvPr>
          <p:cNvSpPr>
            <a:spLocks noGrp="1"/>
          </p:cNvSpPr>
          <p:nvPr>
            <p:ph type="title"/>
          </p:nvPr>
        </p:nvSpPr>
        <p:spPr>
          <a:xfrm>
            <a:off x="546705" y="723257"/>
            <a:ext cx="7023138" cy="1501815"/>
          </a:xfrm>
        </p:spPr>
        <p:txBody>
          <a:bodyPr>
            <a:normAutofit fontScale="90000"/>
          </a:bodyPr>
          <a:lstStyle/>
          <a:p>
            <a:pPr algn="l"/>
            <a:r>
              <a:rPr lang="en-IN" b="1" dirty="0"/>
              <a:t>Non-Functional Requirements:</a:t>
            </a:r>
            <a:br>
              <a:rPr lang="en-IN" b="1" dirty="0"/>
            </a:br>
            <a:br>
              <a:rPr lang="en-IN" b="1" dirty="0"/>
            </a:br>
            <a:br>
              <a:rPr lang="en-IN" b="1" dirty="0"/>
            </a:br>
            <a:endParaRPr lang="en-US" dirty="0"/>
          </a:p>
        </p:txBody>
      </p:sp>
      <p:sp>
        <p:nvSpPr>
          <p:cNvPr id="3" name="Content Placeholder 2">
            <a:extLst>
              <a:ext uri="{FF2B5EF4-FFF2-40B4-BE49-F238E27FC236}">
                <a16:creationId xmlns:a16="http://schemas.microsoft.com/office/drawing/2014/main" id="{62980A64-3DC4-D0DF-0C43-5631D43715DB}"/>
              </a:ext>
            </a:extLst>
          </p:cNvPr>
          <p:cNvSpPr>
            <a:spLocks noGrp="1"/>
          </p:cNvSpPr>
          <p:nvPr>
            <p:ph idx="1"/>
          </p:nvPr>
        </p:nvSpPr>
        <p:spPr>
          <a:xfrm>
            <a:off x="650877" y="1124191"/>
            <a:ext cx="8634714" cy="5266481"/>
          </a:xfrm>
        </p:spPr>
        <p:txBody>
          <a:bodyPr anchor="t">
            <a:normAutofit/>
          </a:bodyPr>
          <a:lstStyle/>
          <a:p>
            <a:pPr lvl="0"/>
            <a:r>
              <a:rPr lang="en-IN" sz="2800" b="1" dirty="0"/>
              <a:t>Performance:</a:t>
            </a:r>
            <a:r>
              <a:rPr lang="en-IN" sz="2800" dirty="0"/>
              <a:t> Provides fast search results.</a:t>
            </a:r>
          </a:p>
          <a:p>
            <a:pPr lvl="0"/>
            <a:r>
              <a:rPr lang="en-IN" sz="2800" b="1" dirty="0"/>
              <a:t>Usability:</a:t>
            </a:r>
            <a:r>
              <a:rPr lang="en-IN" sz="2800" dirty="0"/>
              <a:t> Simple and easy for teachers to use.</a:t>
            </a:r>
          </a:p>
          <a:p>
            <a:pPr lvl="0"/>
            <a:r>
              <a:rPr lang="en-IN" sz="2800" b="1" dirty="0"/>
              <a:t>Reliability:</a:t>
            </a:r>
            <a:r>
              <a:rPr lang="en-IN" sz="2800" dirty="0"/>
              <a:t> Provides accurate and consistent results.</a:t>
            </a:r>
          </a:p>
          <a:p>
            <a:pPr lvl="0"/>
            <a:r>
              <a:rPr lang="en-IN" sz="2800" b="1" dirty="0"/>
              <a:t>Security:</a:t>
            </a:r>
            <a:r>
              <a:rPr lang="en-IN" sz="2800" dirty="0"/>
              <a:t> Protects question data from unauthorized access.</a:t>
            </a:r>
          </a:p>
          <a:p>
            <a:pPr lvl="0"/>
            <a:r>
              <a:rPr lang="en-IN" sz="2800" b="1" dirty="0"/>
              <a:t>Scalability:</a:t>
            </a:r>
            <a:r>
              <a:rPr lang="en-IN" sz="2800" dirty="0"/>
              <a:t> Can handle a large number of questions.</a:t>
            </a:r>
          </a:p>
          <a:p>
            <a:pPr lvl="0"/>
            <a:r>
              <a:rPr lang="en-IN" sz="2800" b="1" dirty="0"/>
              <a:t>Maintainability:</a:t>
            </a:r>
            <a:r>
              <a:rPr lang="en-IN" sz="2800" dirty="0"/>
              <a:t> Easy to update and manage the system.</a:t>
            </a:r>
          </a:p>
          <a:p>
            <a:pPr marL="0" indent="0">
              <a:buNone/>
            </a:pPr>
            <a:endParaRPr lang="en-US" sz="2800" dirty="0"/>
          </a:p>
        </p:txBody>
      </p:sp>
    </p:spTree>
    <p:extLst>
      <p:ext uri="{BB962C8B-B14F-4D97-AF65-F5344CB8AC3E}">
        <p14:creationId xmlns:p14="http://schemas.microsoft.com/office/powerpoint/2010/main" val="226464959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42B5D7-5EF2-847E-F831-40C885AA0E3C}"/>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468A986-D091-B6E2-688A-B677A2527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C58DA4BD-80AA-FD0F-3CF6-0236BCE877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06F502B4-73B0-22A0-1B76-87A2735C9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2913B59D-AA8C-2352-8C34-EA48CE00E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ED7F220C-E8D3-A760-2423-D12C732BC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A4608A7B-AB99-7429-D95C-D9BA58B62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767211C3-2A0E-217E-4759-45A56BE90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8C5C9843-6171-4227-4CE6-E207CBAA13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FA0A2C91-A36D-88FC-828B-74EC60E782B5}"/>
              </a:ext>
            </a:extLst>
          </p:cNvPr>
          <p:cNvSpPr>
            <a:spLocks noGrp="1"/>
          </p:cNvSpPr>
          <p:nvPr>
            <p:ph type="title"/>
          </p:nvPr>
        </p:nvSpPr>
        <p:spPr>
          <a:xfrm>
            <a:off x="546705" y="723257"/>
            <a:ext cx="7023138" cy="1501815"/>
          </a:xfrm>
        </p:spPr>
        <p:txBody>
          <a:bodyPr>
            <a:normAutofit fontScale="90000"/>
          </a:bodyPr>
          <a:lstStyle/>
          <a:p>
            <a:pPr algn="l"/>
            <a:r>
              <a:rPr lang="en-IN" b="1" dirty="0"/>
              <a:t>Non-Functional Requirements:</a:t>
            </a:r>
            <a:br>
              <a:rPr lang="en-IN" b="1" dirty="0"/>
            </a:br>
            <a:br>
              <a:rPr lang="en-IN" b="1" dirty="0"/>
            </a:br>
            <a:br>
              <a:rPr lang="en-IN" b="1" dirty="0"/>
            </a:br>
            <a:endParaRPr lang="en-US" dirty="0"/>
          </a:p>
        </p:txBody>
      </p:sp>
      <p:sp>
        <p:nvSpPr>
          <p:cNvPr id="3" name="Content Placeholder 2">
            <a:extLst>
              <a:ext uri="{FF2B5EF4-FFF2-40B4-BE49-F238E27FC236}">
                <a16:creationId xmlns:a16="http://schemas.microsoft.com/office/drawing/2014/main" id="{DAB0A4D2-B65B-D8FE-6BD7-5F3935E92434}"/>
              </a:ext>
            </a:extLst>
          </p:cNvPr>
          <p:cNvSpPr>
            <a:spLocks noGrp="1"/>
          </p:cNvSpPr>
          <p:nvPr>
            <p:ph idx="1"/>
          </p:nvPr>
        </p:nvSpPr>
        <p:spPr>
          <a:xfrm>
            <a:off x="650877" y="1124191"/>
            <a:ext cx="8634714" cy="5266481"/>
          </a:xfrm>
        </p:spPr>
        <p:txBody>
          <a:bodyPr anchor="t">
            <a:normAutofit/>
          </a:bodyPr>
          <a:lstStyle/>
          <a:p>
            <a:pPr lvl="0"/>
            <a:r>
              <a:rPr lang="en-IN" sz="2800" b="1" dirty="0"/>
              <a:t>Performance:</a:t>
            </a:r>
            <a:r>
              <a:rPr lang="en-IN" sz="2800" dirty="0"/>
              <a:t> Provides fast search results.</a:t>
            </a:r>
          </a:p>
          <a:p>
            <a:pPr lvl="0"/>
            <a:r>
              <a:rPr lang="en-IN" sz="2800" b="1" dirty="0"/>
              <a:t>Usability:</a:t>
            </a:r>
            <a:r>
              <a:rPr lang="en-IN" sz="2800" dirty="0"/>
              <a:t> Simple and easy for teachers to use.</a:t>
            </a:r>
          </a:p>
          <a:p>
            <a:pPr lvl="0"/>
            <a:r>
              <a:rPr lang="en-IN" sz="2800" b="1" dirty="0"/>
              <a:t>Reliability:</a:t>
            </a:r>
            <a:r>
              <a:rPr lang="en-IN" sz="2800" dirty="0"/>
              <a:t> Provides accurate and consistent results.</a:t>
            </a:r>
          </a:p>
          <a:p>
            <a:pPr lvl="0"/>
            <a:r>
              <a:rPr lang="en-IN" sz="2800" b="1" dirty="0"/>
              <a:t>Security:</a:t>
            </a:r>
            <a:r>
              <a:rPr lang="en-IN" sz="2800" dirty="0"/>
              <a:t> Protects question data from unauthorized access.</a:t>
            </a:r>
          </a:p>
          <a:p>
            <a:pPr lvl="0"/>
            <a:r>
              <a:rPr lang="en-IN" sz="2800" b="1" dirty="0"/>
              <a:t>Scalability:</a:t>
            </a:r>
            <a:r>
              <a:rPr lang="en-IN" sz="2800" dirty="0"/>
              <a:t> Can handle a large number of questions.</a:t>
            </a:r>
          </a:p>
          <a:p>
            <a:pPr lvl="0"/>
            <a:r>
              <a:rPr lang="en-IN" sz="2800" b="1" dirty="0"/>
              <a:t>Maintainability:</a:t>
            </a:r>
            <a:r>
              <a:rPr lang="en-IN" sz="2800" dirty="0"/>
              <a:t> Easy to update and manage the system.</a:t>
            </a:r>
          </a:p>
          <a:p>
            <a:pPr marL="0" indent="0">
              <a:buNone/>
            </a:pPr>
            <a:endParaRPr lang="en-US" sz="2800" dirty="0"/>
          </a:p>
        </p:txBody>
      </p:sp>
    </p:spTree>
    <p:extLst>
      <p:ext uri="{BB962C8B-B14F-4D97-AF65-F5344CB8AC3E}">
        <p14:creationId xmlns:p14="http://schemas.microsoft.com/office/powerpoint/2010/main" val="775406904"/>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C649885-18F5-E0FC-319C-03A39E0C004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80CF96-1B41-B932-13BF-53621843D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5C18315-C694-795D-991E-C42FB6D345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D190C4EC-2531-3C9A-F39C-5DAB4CB15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5" name="Freeform 7">
              <a:extLst>
                <a:ext uri="{FF2B5EF4-FFF2-40B4-BE49-F238E27FC236}">
                  <a16:creationId xmlns:a16="http://schemas.microsoft.com/office/drawing/2014/main" id="{D3C54693-1F73-EC6B-4EB0-5454B6A9A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Freeform 12">
              <a:extLst>
                <a:ext uri="{FF2B5EF4-FFF2-40B4-BE49-F238E27FC236}">
                  <a16:creationId xmlns:a16="http://schemas.microsoft.com/office/drawing/2014/main" id="{1BBBF97A-2AB6-D72B-CF48-BD6C70916A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27" name="Freeform 13">
              <a:extLst>
                <a:ext uri="{FF2B5EF4-FFF2-40B4-BE49-F238E27FC236}">
                  <a16:creationId xmlns:a16="http://schemas.microsoft.com/office/drawing/2014/main" id="{01C3898A-0994-254E-7785-85B2D3DC1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8" name="Freeform 14">
              <a:extLst>
                <a:ext uri="{FF2B5EF4-FFF2-40B4-BE49-F238E27FC236}">
                  <a16:creationId xmlns:a16="http://schemas.microsoft.com/office/drawing/2014/main" id="{0C6C3B4A-912C-7ADD-A778-A1990CB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9" name="Freeform 15">
              <a:extLst>
                <a:ext uri="{FF2B5EF4-FFF2-40B4-BE49-F238E27FC236}">
                  <a16:creationId xmlns:a16="http://schemas.microsoft.com/office/drawing/2014/main" id="{E332754B-1983-26C5-C4C2-A5C5A748BF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sp>
        <p:nvSpPr>
          <p:cNvPr id="2" name="Title 1">
            <a:extLst>
              <a:ext uri="{FF2B5EF4-FFF2-40B4-BE49-F238E27FC236}">
                <a16:creationId xmlns:a16="http://schemas.microsoft.com/office/drawing/2014/main" id="{D6731982-376F-B2AA-5D68-8640CF23829C}"/>
              </a:ext>
            </a:extLst>
          </p:cNvPr>
          <p:cNvSpPr>
            <a:spLocks noGrp="1"/>
          </p:cNvSpPr>
          <p:nvPr>
            <p:ph type="title"/>
          </p:nvPr>
        </p:nvSpPr>
        <p:spPr>
          <a:xfrm>
            <a:off x="650877" y="873728"/>
            <a:ext cx="7023138" cy="1501815"/>
          </a:xfrm>
        </p:spPr>
        <p:txBody>
          <a:bodyPr>
            <a:normAutofit fontScale="90000"/>
          </a:bodyPr>
          <a:lstStyle/>
          <a:p>
            <a:pPr algn="l"/>
            <a:r>
              <a:rPr lang="en-IN" b="1" dirty="0"/>
              <a:t>Technologies Used</a:t>
            </a:r>
            <a:br>
              <a:rPr lang="en-IN" b="1" dirty="0"/>
            </a:br>
            <a:br>
              <a:rPr lang="en-IN" b="1" dirty="0"/>
            </a:br>
            <a:br>
              <a:rPr lang="en-IN" b="1" dirty="0"/>
            </a:br>
            <a:br>
              <a:rPr lang="en-IN" b="1" dirty="0"/>
            </a:br>
            <a:endParaRPr lang="en-US" dirty="0"/>
          </a:p>
        </p:txBody>
      </p:sp>
      <p:sp>
        <p:nvSpPr>
          <p:cNvPr id="3" name="Content Placeholder 2">
            <a:extLst>
              <a:ext uri="{FF2B5EF4-FFF2-40B4-BE49-F238E27FC236}">
                <a16:creationId xmlns:a16="http://schemas.microsoft.com/office/drawing/2014/main" id="{4B563F9D-C402-CD54-9F9D-C8BD91446537}"/>
              </a:ext>
            </a:extLst>
          </p:cNvPr>
          <p:cNvSpPr>
            <a:spLocks noGrp="1"/>
          </p:cNvSpPr>
          <p:nvPr>
            <p:ph idx="1"/>
          </p:nvPr>
        </p:nvSpPr>
        <p:spPr>
          <a:xfrm>
            <a:off x="650877" y="1124191"/>
            <a:ext cx="8634714" cy="5266481"/>
          </a:xfrm>
        </p:spPr>
        <p:txBody>
          <a:bodyPr anchor="t">
            <a:normAutofit/>
          </a:bodyPr>
          <a:lstStyle/>
          <a:p>
            <a:pPr lvl="0"/>
            <a:r>
              <a:rPr lang="en-IN" sz="2800" b="1" dirty="0"/>
              <a:t>Frontend:</a:t>
            </a:r>
            <a:r>
              <a:rPr lang="en-IN" sz="2800" dirty="0"/>
              <a:t> HTML, CSS, JavaScript</a:t>
            </a:r>
          </a:p>
          <a:p>
            <a:pPr lvl="0"/>
            <a:r>
              <a:rPr lang="en-IN" sz="2800" b="1" dirty="0"/>
              <a:t>Backend:</a:t>
            </a:r>
            <a:r>
              <a:rPr lang="en-IN" sz="2800" dirty="0"/>
              <a:t> Node.js and Express.js</a:t>
            </a:r>
          </a:p>
          <a:p>
            <a:pPr lvl="0"/>
            <a:r>
              <a:rPr lang="en-IN" sz="2800" b="1" dirty="0"/>
              <a:t>Database:</a:t>
            </a:r>
            <a:r>
              <a:rPr lang="en-IN" sz="2800" dirty="0"/>
              <a:t> MySQL</a:t>
            </a:r>
          </a:p>
          <a:p>
            <a:pPr lvl="0"/>
            <a:r>
              <a:rPr lang="en-IN" sz="2800" b="1" dirty="0"/>
              <a:t>Search Mechanism:</a:t>
            </a:r>
            <a:r>
              <a:rPr lang="en-IN" sz="2800" dirty="0"/>
              <a:t> SQL Queries and Indexing</a:t>
            </a:r>
          </a:p>
          <a:p>
            <a:pPr lvl="0"/>
            <a:r>
              <a:rPr lang="en-IN" sz="2800" b="1" dirty="0"/>
              <a:t>Development Tool:</a:t>
            </a:r>
            <a:r>
              <a:rPr lang="en-IN" sz="2800" dirty="0"/>
              <a:t> Visual Studio Code</a:t>
            </a:r>
          </a:p>
          <a:p>
            <a:pPr marL="0" indent="0">
              <a:buNone/>
            </a:pPr>
            <a:endParaRPr lang="en-US" sz="2800" dirty="0"/>
          </a:p>
        </p:txBody>
      </p:sp>
    </p:spTree>
    <p:extLst>
      <p:ext uri="{BB962C8B-B14F-4D97-AF65-F5344CB8AC3E}">
        <p14:creationId xmlns:p14="http://schemas.microsoft.com/office/powerpoint/2010/main" val="2480182692"/>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023227-530E-4024-91EF-312A851A758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3315AA3-EAE3-44ED-8368-BAC2FFFB4817}">
  <ds:schemaRefs>
    <ds:schemaRef ds:uri="http://schemas.microsoft.com/sharepoint/v3/contenttype/forms"/>
  </ds:schemaRefs>
</ds:datastoreItem>
</file>

<file path=customXml/itemProps3.xml><?xml version="1.0" encoding="utf-8"?>
<ds:datastoreItem xmlns:ds="http://schemas.openxmlformats.org/officeDocument/2006/customXml" ds:itemID="{627C19A7-3107-4CB2-BD0D-F7C79BE028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Parallax design</Template>
  <TotalTime>20</TotalTime>
  <Words>610</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Corbel</vt:lpstr>
      <vt:lpstr>Parallax</vt:lpstr>
      <vt:lpstr>QUESTION BANK MANAGEMENT SYSTEM</vt:lpstr>
      <vt:lpstr>Problem Statement </vt:lpstr>
      <vt:lpstr>Key Challenges </vt:lpstr>
      <vt:lpstr>Objectives </vt:lpstr>
      <vt:lpstr>Proposed Solution </vt:lpstr>
      <vt:lpstr>Proposed Solution </vt:lpstr>
      <vt:lpstr>Core Features  </vt:lpstr>
      <vt:lpstr>Functional Requirements:  </vt:lpstr>
      <vt:lpstr>Functional Requirements:  </vt:lpstr>
      <vt:lpstr>Non-Functional Requirements:   </vt:lpstr>
      <vt:lpstr>Non-Functional Requirements:   </vt:lpstr>
      <vt:lpstr>Technologies Used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rajendra prasad puritipati</dc:creator>
  <cp:lastModifiedBy>manaswi chilukuri</cp:lastModifiedBy>
  <cp:revision>2</cp:revision>
  <dcterms:created xsi:type="dcterms:W3CDTF">2026-07-31T05:26:19Z</dcterms:created>
  <dcterms:modified xsi:type="dcterms:W3CDTF">2026-08-29T03:35:35Z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